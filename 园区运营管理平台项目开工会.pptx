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2" r:id="rId10"/>
    <p:sldId id="270" r:id="rId11"/>
    <p:sldId id="271" r:id="rId12"/>
    <p:sldId id="266" r:id="rId13"/>
    <p:sldId id="267" r:id="rId14"/>
    <p:sldId id="268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用户本次要求：3个月建设上线，1个月试运行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用户本次开工会要求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用户本次要求：3个月建设上线，1个月试运行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- /Users/jiakangli/Desktop/bladex-park/模块迁移/部署/园区管理平台技术架构图.png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架构由用户与终端、前端展示、接入安全、后端业务与公共能力、数据基础设施五层构成。</a:t>
            </a:r>
          </a:p>
          <a:p/>
          <a:p>
            <a:r>
              <a:t>[Sources]</a:t>
            </a:r>
          </a:p>
          <a:p>
            <a:r>
              <a:t>- /Users/jiakangli/Desktop/bladex-park/模块迁移/部署/园区管理平台技术架构图.png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用户本次要求：3个月建设上线，1个月试运行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用户本次要求：3个月建设上线，1个月试运行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用户本次要求：3个月建设上线，1个月试运行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- 用户提供的项目实施要求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/Users/jiakangli/Desktop/bladex-park/模块迁移/部署/模块审计88分上线路线图.md</a:t>
            </a:r>
          </a:p>
          <a:p>
            <a:r>
              <a:t>- 用户本次开工会要求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tags" Target="../tags/tag4.xml"/><Relationship Id="rId4" Type="http://schemas.openxmlformats.org/officeDocument/2006/relationships/image" Target="../media/image4.png"/><Relationship Id="rId3" Type="http://schemas.openxmlformats.org/officeDocument/2006/relationships/tags" Target="../tags/tag3.xml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panel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F6B5B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552450" y="5143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项目启动与实施计划</a:t>
            </a:r>
            <a:endParaRPr sz="16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552450" y="1790700"/>
            <a:ext cx="7239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54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54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吴中</a:t>
            </a:r>
            <a:r>
              <a:rPr lang="zh-CN" sz="54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金控企业服务</a:t>
            </a:r>
            <a:r>
              <a:rPr sz="54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</a:t>
            </a:r>
            <a:endParaRPr sz="54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54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4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项目开工会</a:t>
            </a:r>
            <a:endParaRPr sz="54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552450" y="4476750"/>
            <a:ext cx="762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22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统一建设</a:t>
            </a:r>
            <a:r>
              <a:rPr lang="zh-CN" sz="22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</a:t>
            </a:r>
            <a:r>
              <a:rPr sz="22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· 锁定3+1月计划 · 建立协同机制</a:t>
            </a:r>
            <a:endParaRPr sz="2250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552450" y="57531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2026年8月｜项目实施团队</a:t>
            </a:r>
            <a:endParaRPr sz="150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panel"/>
          <p:cNvSpPr>
            <a:spLocks noGrp="1"/>
          </p:cNvSpPr>
          <p:nvPr/>
        </p:nvSpPr>
        <p:spPr>
          <a:xfrm>
            <a:off x="9443085" y="857250"/>
            <a:ext cx="1891665" cy="4857750"/>
          </a:xfrm>
          <a:prstGeom prst="rect">
            <a:avLst/>
          </a:prstGeom>
          <a:solidFill>
            <a:srgbClr val="EAF2EE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8858250" y="2171700"/>
            <a:ext cx="2762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9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3+1</a:t>
            </a:r>
            <a:endParaRPr sz="6900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9220200" y="3448050"/>
            <a:ext cx="2095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3个月建设上线</a:t>
            </a:r>
            <a:endParaRPr sz="1800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8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1个月试运行</a:t>
            </a:r>
            <a:endParaRPr sz="1800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title"/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本次开工会</a:t>
            </a:r>
            <a:r>
              <a:rPr lang="zh-CN"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</a:t>
            </a:r>
            <a:r>
              <a:rPr lang="zh-CN"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介绍</a:t>
            </a:r>
            <a:endParaRPr lang="zh-CN" sz="36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ection-label"/>
          <p:cNvSpPr>
            <a:spLocks noGrp="1"/>
          </p:cNvSpPr>
          <p:nvPr/>
        </p:nvSpPr>
        <p:spPr>
          <a:xfrm>
            <a:off x="9620250" y="409575"/>
            <a:ext cx="217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r">
              <a:def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项目开工会</a:t>
            </a:r>
            <a:endParaRPr sz="12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age-number"/>
          <p:cNvSpPr>
            <a:spLocks noGrp="1"/>
          </p:cNvSpPr>
          <p:nvPr/>
        </p:nvSpPr>
        <p:spPr>
          <a:xfrm>
            <a:off x="11277600" y="63436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/>
          </a:bodyPr>
          <a:lstStyle/>
          <a:p>
            <a:pPr algn="r">
              <a:def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05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25" name="rule"/>
          <p:cNvCxnSpPr/>
          <p:nvPr/>
        </p:nvCxnSpPr>
        <p:spPr>
          <a:xfrm>
            <a:off x="400050" y="2228850"/>
            <a:ext cx="113919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5" name="text"/>
          <p:cNvSpPr>
            <a:spLocks noGrp="1"/>
          </p:cNvSpPr>
          <p:nvPr/>
        </p:nvSpPr>
        <p:spPr>
          <a:xfrm>
            <a:off x="495300" y="17335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6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390650" y="16954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olidFill>
                  <a:srgbClr val="111418"/>
                </a:solidFill>
                <a:cs typeface="PingFang SC" panose="020B0400000000000000" charset="-122"/>
              </a:rPr>
              <a:t>项目目标</a:t>
            </a:r>
            <a:endParaRPr lang="zh-CN">
              <a:solidFill>
                <a:srgbClr val="111418"/>
              </a:solidFill>
              <a:cs typeface="PingFang SC" panose="020B0400000000000000" charset="-122"/>
            </a:endParaRPr>
          </a:p>
        </p:txBody>
      </p:sp>
      <p:cxnSp>
        <p:nvCxnSpPr>
          <p:cNvPr id="28" name="rule"/>
          <p:cNvCxnSpPr/>
          <p:nvPr/>
        </p:nvCxnSpPr>
        <p:spPr>
          <a:xfrm>
            <a:off x="400050" y="2952750"/>
            <a:ext cx="113919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8" name="text"/>
          <p:cNvSpPr>
            <a:spLocks noGrp="1"/>
          </p:cNvSpPr>
          <p:nvPr/>
        </p:nvSpPr>
        <p:spPr>
          <a:xfrm>
            <a:off x="495300" y="24574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6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1390650" y="24193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</a:t>
            </a:r>
            <a:r>
              <a:rPr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建设内容与技术架构</a:t>
            </a:r>
            <a:endParaRPr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1" name="rule"/>
          <p:cNvCxnSpPr/>
          <p:nvPr/>
        </p:nvCxnSpPr>
        <p:spPr>
          <a:xfrm>
            <a:off x="400050" y="3676650"/>
            <a:ext cx="113919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11" name="text"/>
          <p:cNvSpPr>
            <a:spLocks noGrp="1"/>
          </p:cNvSpPr>
          <p:nvPr/>
        </p:nvSpPr>
        <p:spPr>
          <a:xfrm>
            <a:off x="495300" y="31813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6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1415415" y="384111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已完成</a:t>
            </a:r>
            <a:r>
              <a:rPr lang="zh-CN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内容展示</a:t>
            </a:r>
            <a:r>
              <a:rPr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与</a:t>
            </a:r>
            <a:r>
              <a:rPr lang="zh-CN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下一步</a:t>
            </a:r>
            <a:r>
              <a:rPr lang="zh-CN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进展</a:t>
            </a:r>
            <a:endParaRPr lang="zh-CN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4" name="rule"/>
          <p:cNvCxnSpPr/>
          <p:nvPr/>
        </p:nvCxnSpPr>
        <p:spPr>
          <a:xfrm>
            <a:off x="400050" y="4400550"/>
            <a:ext cx="113919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14" name="text"/>
          <p:cNvSpPr>
            <a:spLocks noGrp="1"/>
          </p:cNvSpPr>
          <p:nvPr/>
        </p:nvSpPr>
        <p:spPr>
          <a:xfrm>
            <a:off x="495300" y="39052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6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1415415" y="31432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3个月建设、1个月试运行计划</a:t>
            </a:r>
            <a:endParaRPr sz="210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7" name="rule"/>
          <p:cNvCxnSpPr/>
          <p:nvPr/>
        </p:nvCxnSpPr>
        <p:spPr>
          <a:xfrm>
            <a:off x="400050" y="5124450"/>
            <a:ext cx="113919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17" name="text"/>
          <p:cNvSpPr>
            <a:spLocks noGrp="1"/>
          </p:cNvSpPr>
          <p:nvPr/>
        </p:nvSpPr>
        <p:spPr>
          <a:xfrm>
            <a:off x="495300" y="46291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6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1390650" y="45910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项目组</a:t>
            </a:r>
            <a:r>
              <a:rPr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项目协同机制</a:t>
            </a:r>
            <a:endParaRPr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0" name="rule"/>
          <p:cNvCxnSpPr/>
          <p:nvPr/>
        </p:nvCxnSpPr>
        <p:spPr>
          <a:xfrm>
            <a:off x="400050" y="5848350"/>
            <a:ext cx="113919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20" name="text"/>
          <p:cNvSpPr>
            <a:spLocks noGrp="1"/>
          </p:cNvSpPr>
          <p:nvPr/>
        </p:nvSpPr>
        <p:spPr>
          <a:xfrm>
            <a:off x="495300" y="53530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6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1390650" y="53149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b="0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需要双方现场确认的事项</a:t>
            </a:r>
            <a:endParaRPr b="0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slide-title"/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项目目标：</a:t>
            </a:r>
            <a:r>
              <a:rPr lang="zh-CN"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业务目标</a:t>
            </a:r>
            <a:endParaRPr lang="zh-CN" sz="36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ection-label"/>
          <p:cNvSpPr>
            <a:spLocks noGrp="1"/>
          </p:cNvSpPr>
          <p:nvPr/>
        </p:nvSpPr>
        <p:spPr>
          <a:xfrm>
            <a:off x="9620250" y="409575"/>
            <a:ext cx="217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r">
              <a:def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项目开工会</a:t>
            </a:r>
            <a:endParaRPr sz="12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age-number"/>
          <p:cNvSpPr>
            <a:spLocks noGrp="1"/>
          </p:cNvSpPr>
          <p:nvPr/>
        </p:nvSpPr>
        <p:spPr>
          <a:xfrm>
            <a:off x="11277600" y="63436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/>
          </a:bodyPr>
          <a:lstStyle/>
          <a:p>
            <a:pPr algn="r">
              <a:def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05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400050" y="175260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5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400050" y="215265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业务全链路</a:t>
            </a:r>
            <a:endParaRPr sz="21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400050" y="26479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贯通客户、入驻、房源、合同</a:t>
            </a:r>
            <a:r>
              <a:rPr lang="zh-CN"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、逾期</a:t>
            </a:r>
            <a:r>
              <a: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及园区服务，形成线上闭环。</a:t>
            </a:r>
            <a:endParaRPr sz="1650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"/>
          <p:cNvSpPr>
            <a:spLocks noGrp="1"/>
          </p:cNvSpPr>
          <p:nvPr/>
        </p:nvSpPr>
        <p:spPr>
          <a:xfrm>
            <a:off x="6286500" y="175260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5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6286500" y="215265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PC与小程序协同</a:t>
            </a:r>
            <a:endParaRPr sz="21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0" y="26479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管理端统一办理，企业端便捷申请与查询，业务数据同步一致。</a:t>
            </a:r>
            <a:endParaRPr sz="1650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400050" y="373380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5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400050" y="413385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安全稳定运行</a:t>
            </a:r>
            <a:endParaRPr sz="21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00050" y="46291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建立认证、权限、审计、备份与异常恢复机制，满足上线要求。</a:t>
            </a:r>
            <a:endParaRPr sz="1650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6286500" y="373380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5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6286500" y="413385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持续运营支撑</a:t>
            </a:r>
            <a:endParaRPr sz="21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286500" y="46291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采用模块化架构，兼顾后续业务扩展、运行维护。</a:t>
            </a:r>
            <a:endParaRPr sz="1650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panel"/>
          <p:cNvSpPr>
            <a:spLocks noGrp="1"/>
          </p:cNvSpPr>
          <p:nvPr/>
        </p:nvSpPr>
        <p:spPr>
          <a:xfrm>
            <a:off x="400050" y="5791200"/>
            <a:ext cx="11391900" cy="457200"/>
          </a:xfrm>
          <a:prstGeom prst="rect">
            <a:avLst/>
          </a:prstGeom>
          <a:solidFill>
            <a:srgbClr val="EAF2EE"/>
          </a:solidFill>
          <a:ln w="0">
            <a:noFill/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590550" y="58674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833"/>
          </a:bodyPr>
          <a:lstStyle/>
          <a:p>
            <a:pPr algn="l">
              <a:defRPr sz="18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最终交付标准：可上线、可使用、可运维、可验收</a:t>
            </a:r>
            <a:endParaRPr sz="1800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slide-title"/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</a:t>
            </a:r>
            <a:r>
              <a: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建设范围与公共支撑能力</a:t>
            </a:r>
            <a:endParaRPr sz="36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ection-label"/>
          <p:cNvSpPr>
            <a:spLocks noGrp="1"/>
          </p:cNvSpPr>
          <p:nvPr/>
        </p:nvSpPr>
        <p:spPr>
          <a:xfrm>
            <a:off x="9620250" y="409575"/>
            <a:ext cx="217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r">
              <a:def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项目开工会</a:t>
            </a:r>
            <a:endParaRPr sz="12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age-number"/>
          <p:cNvSpPr>
            <a:spLocks noGrp="1"/>
          </p:cNvSpPr>
          <p:nvPr/>
        </p:nvSpPr>
        <p:spPr>
          <a:xfrm>
            <a:off x="11277600" y="63436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/>
          </a:bodyPr>
          <a:lstStyle/>
          <a:p>
            <a:pPr algn="r">
              <a:def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05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400050" y="18669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400050" y="22669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首页工作台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400050" y="2781300"/>
            <a:ext cx="2428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指标、待办、提醒与业务入口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2" name="rule"/>
          <p:cNvCxnSpPr/>
          <p:nvPr/>
        </p:nvCxnSpPr>
        <p:spPr>
          <a:xfrm>
            <a:off x="400050" y="3619500"/>
            <a:ext cx="24003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8" name="text"/>
          <p:cNvSpPr>
            <a:spLocks noGrp="1"/>
          </p:cNvSpPr>
          <p:nvPr/>
        </p:nvSpPr>
        <p:spPr>
          <a:xfrm>
            <a:off x="3333750" y="18669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3333750" y="22669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园区与房源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3333750" y="2781300"/>
            <a:ext cx="2428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园区、楼宇、楼层、房源及租控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6" name="rule"/>
          <p:cNvCxnSpPr/>
          <p:nvPr/>
        </p:nvCxnSpPr>
        <p:spPr>
          <a:xfrm>
            <a:off x="3333750" y="3619500"/>
            <a:ext cx="24003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12" name="text"/>
          <p:cNvSpPr>
            <a:spLocks noGrp="1"/>
          </p:cNvSpPr>
          <p:nvPr/>
        </p:nvSpPr>
        <p:spPr>
          <a:xfrm>
            <a:off x="6267450" y="18669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6267450" y="22669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入驻与客户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6267450" y="2781300"/>
            <a:ext cx="2428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商机、背景调查、审批、客户档案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0" name="rule"/>
          <p:cNvCxnSpPr/>
          <p:nvPr/>
        </p:nvCxnSpPr>
        <p:spPr>
          <a:xfrm>
            <a:off x="6267450" y="3619500"/>
            <a:ext cx="24003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16" name="text"/>
          <p:cNvSpPr>
            <a:spLocks noGrp="1"/>
          </p:cNvSpPr>
          <p:nvPr/>
        </p:nvSpPr>
        <p:spPr>
          <a:xfrm>
            <a:off x="9201150" y="18669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9201150" y="22669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合同管理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9201150" y="2781300"/>
            <a:ext cx="2428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创建、审批、到期、归档与退租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4" name="rule"/>
          <p:cNvCxnSpPr/>
          <p:nvPr/>
        </p:nvCxnSpPr>
        <p:spPr>
          <a:xfrm>
            <a:off x="9201150" y="3619500"/>
            <a:ext cx="24003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20" name="text"/>
          <p:cNvSpPr>
            <a:spLocks noGrp="1"/>
          </p:cNvSpPr>
          <p:nvPr/>
        </p:nvSpPr>
        <p:spPr>
          <a:xfrm>
            <a:off x="400050" y="39624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400050" y="43624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逾期管理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400050" y="4876800"/>
            <a:ext cx="2428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逾期识别、提醒、处置与资料留痕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8" name="rule"/>
          <p:cNvCxnSpPr/>
          <p:nvPr/>
        </p:nvCxnSpPr>
        <p:spPr>
          <a:xfrm>
            <a:off x="400050" y="5715000"/>
            <a:ext cx="24003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24" name="text"/>
          <p:cNvSpPr>
            <a:spLocks noGrp="1"/>
          </p:cNvSpPr>
          <p:nvPr/>
        </p:nvSpPr>
        <p:spPr>
          <a:xfrm>
            <a:off x="3333750" y="39624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3333750" y="43624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物业与企业服务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3333750" y="4876800"/>
            <a:ext cx="2428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服务配置、工单、商户与广告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62" name="rule"/>
          <p:cNvCxnSpPr/>
          <p:nvPr/>
        </p:nvCxnSpPr>
        <p:spPr>
          <a:xfrm>
            <a:off x="3333750" y="5715000"/>
            <a:ext cx="24003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28" name="text"/>
          <p:cNvSpPr>
            <a:spLocks noGrp="1"/>
          </p:cNvSpPr>
          <p:nvPr/>
        </p:nvSpPr>
        <p:spPr>
          <a:xfrm>
            <a:off x="6267450" y="39624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6267450" y="43624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流程与文档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6267450" y="4876800"/>
            <a:ext cx="2428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审批、模板打印、预览下载与通知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66" name="rule"/>
          <p:cNvCxnSpPr/>
          <p:nvPr/>
        </p:nvCxnSpPr>
        <p:spPr>
          <a:xfrm>
            <a:off x="6267450" y="5715000"/>
            <a:ext cx="24003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32" name="text"/>
          <p:cNvSpPr>
            <a:spLocks noGrp="1"/>
          </p:cNvSpPr>
          <p:nvPr/>
        </p:nvSpPr>
        <p:spPr>
          <a:xfrm>
            <a:off x="9201150" y="39624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text"/>
          <p:cNvSpPr>
            <a:spLocks noGrp="1"/>
          </p:cNvSpPr>
          <p:nvPr/>
        </p:nvSpPr>
        <p:spPr>
          <a:xfrm>
            <a:off x="9201150" y="43624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系统管理与运维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9201150" y="4876800"/>
            <a:ext cx="2428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用户、角色、权限、日志与备份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70" name="rule"/>
          <p:cNvCxnSpPr/>
          <p:nvPr/>
        </p:nvCxnSpPr>
        <p:spPr>
          <a:xfrm>
            <a:off x="9201150" y="5715000"/>
            <a:ext cx="24003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421" y="114300"/>
            <a:ext cx="10891157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slide-title"/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3个月建设上线，第4个月试运行验收</a:t>
            </a:r>
            <a:endParaRPr sz="36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ection-label"/>
          <p:cNvSpPr>
            <a:spLocks noGrp="1"/>
          </p:cNvSpPr>
          <p:nvPr/>
        </p:nvSpPr>
        <p:spPr>
          <a:xfrm>
            <a:off x="9620250" y="409575"/>
            <a:ext cx="217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r">
              <a:def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项目开工会</a:t>
            </a:r>
            <a:endParaRPr sz="12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age-number"/>
          <p:cNvSpPr>
            <a:spLocks noGrp="1"/>
          </p:cNvSpPr>
          <p:nvPr/>
        </p:nvSpPr>
        <p:spPr>
          <a:xfrm>
            <a:off x="11277600" y="63436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/>
          </a:bodyPr>
          <a:lstStyle/>
          <a:p>
            <a:pPr algn="r">
              <a:def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105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panel"/>
          <p:cNvSpPr>
            <a:spLocks noGrp="1"/>
          </p:cNvSpPr>
          <p:nvPr/>
        </p:nvSpPr>
        <p:spPr>
          <a:xfrm>
            <a:off x="400050" y="1485900"/>
            <a:ext cx="2571750" cy="457200"/>
          </a:xfrm>
          <a:prstGeom prst="rect">
            <a:avLst/>
          </a:prstGeom>
          <a:solidFill>
            <a:srgbClr val="264A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76250" y="1571625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ctr"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工作主线</a:t>
            </a:r>
            <a:endParaRPr sz="15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panel"/>
          <p:cNvSpPr>
            <a:spLocks noGrp="1"/>
          </p:cNvSpPr>
          <p:nvPr/>
        </p:nvSpPr>
        <p:spPr>
          <a:xfrm>
            <a:off x="2971800" y="1485900"/>
            <a:ext cx="2143125" cy="457200"/>
          </a:xfrm>
          <a:prstGeom prst="rect">
            <a:avLst/>
          </a:prstGeom>
          <a:solidFill>
            <a:srgbClr val="EAF2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3048000" y="1571625"/>
            <a:ext cx="1990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ctr">
              <a:defRPr sz="1575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第1月</a:t>
            </a:r>
            <a:endParaRPr sz="1575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panel"/>
          <p:cNvSpPr>
            <a:spLocks noGrp="1"/>
          </p:cNvSpPr>
          <p:nvPr/>
        </p:nvSpPr>
        <p:spPr>
          <a:xfrm>
            <a:off x="5114925" y="1485900"/>
            <a:ext cx="2143125" cy="457200"/>
          </a:xfrm>
          <a:prstGeom prst="rect">
            <a:avLst/>
          </a:prstGeom>
          <a:solidFill>
            <a:srgbClr val="EAF2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"/>
          <p:cNvSpPr>
            <a:spLocks noGrp="1"/>
          </p:cNvSpPr>
          <p:nvPr/>
        </p:nvSpPr>
        <p:spPr>
          <a:xfrm>
            <a:off x="5191125" y="1571625"/>
            <a:ext cx="1990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ctr">
              <a:defRPr sz="1575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第2月</a:t>
            </a:r>
            <a:endParaRPr sz="1575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panel"/>
          <p:cNvSpPr>
            <a:spLocks noGrp="1"/>
          </p:cNvSpPr>
          <p:nvPr/>
        </p:nvSpPr>
        <p:spPr>
          <a:xfrm>
            <a:off x="7258050" y="1485900"/>
            <a:ext cx="2143125" cy="457200"/>
          </a:xfrm>
          <a:prstGeom prst="rect">
            <a:avLst/>
          </a:prstGeom>
          <a:solidFill>
            <a:srgbClr val="EAF2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7334250" y="1571625"/>
            <a:ext cx="1990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ctr">
              <a:defRPr sz="1575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第3月</a:t>
            </a:r>
            <a:endParaRPr sz="1575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panel"/>
          <p:cNvSpPr>
            <a:spLocks noGrp="1"/>
          </p:cNvSpPr>
          <p:nvPr/>
        </p:nvSpPr>
        <p:spPr>
          <a:xfrm>
            <a:off x="9401175" y="1485900"/>
            <a:ext cx="2143125" cy="457200"/>
          </a:xfrm>
          <a:prstGeom prst="rect">
            <a:avLst/>
          </a:prstGeom>
          <a:solidFill>
            <a:srgbClr val="EAF2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9477375" y="1571625"/>
            <a:ext cx="1990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ctr">
              <a:defRPr sz="1575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第4月</a:t>
            </a:r>
            <a:endParaRPr sz="1575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panel"/>
          <p:cNvSpPr>
            <a:spLocks noGrp="1"/>
          </p:cNvSpPr>
          <p:nvPr/>
        </p:nvSpPr>
        <p:spPr>
          <a:xfrm>
            <a:off x="400050" y="1943100"/>
            <a:ext cx="11144250" cy="628650"/>
          </a:xfrm>
          <a:prstGeom prst="rect">
            <a:avLst/>
          </a:prstGeom>
          <a:solidFill>
            <a:srgbClr val="FAFAFA"/>
          </a:solidFill>
          <a:ln w="4763">
            <a:solidFill>
              <a:srgbClr val="B9BFC3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533400" y="2105025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需求基线与环境准备</a:t>
            </a:r>
            <a:endParaRPr sz="15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panel"/>
          <p:cNvSpPr>
            <a:spLocks noGrp="1"/>
          </p:cNvSpPr>
          <p:nvPr/>
        </p:nvSpPr>
        <p:spPr>
          <a:xfrm>
            <a:off x="3114675" y="2085975"/>
            <a:ext cx="1857375" cy="342900"/>
          </a:xfrm>
          <a:prstGeom prst="roundRect">
            <a:avLst>
              <a:gd name="adj" fmla="val 22222"/>
            </a:avLst>
          </a:prstGeom>
          <a:solidFill>
            <a:srgbClr val="2F6B5B"/>
          </a:solidFill>
          <a:ln w="0">
            <a:noFill/>
            <a:prstDash val="solid"/>
          </a:ln>
        </p:spPr>
      </p:sp>
      <p:sp>
        <p:nvSpPr>
          <p:cNvPr id="17" name="panel"/>
          <p:cNvSpPr>
            <a:spLocks noGrp="1"/>
          </p:cNvSpPr>
          <p:nvPr/>
        </p:nvSpPr>
        <p:spPr>
          <a:xfrm>
            <a:off x="400050" y="2571750"/>
            <a:ext cx="11144250" cy="628650"/>
          </a:xfrm>
          <a:prstGeom prst="rect">
            <a:avLst/>
          </a:prstGeom>
          <a:solidFill>
            <a:srgbClr val="FFFFFF"/>
          </a:solidFill>
          <a:ln w="4763">
            <a:solidFill>
              <a:srgbClr val="B9BFC3"/>
            </a:solidFill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533400" y="2733675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3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功能开发</a:t>
            </a:r>
            <a:r>
              <a:rPr sz="13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与多角色UAT</a:t>
            </a:r>
            <a:endParaRPr sz="13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panel"/>
          <p:cNvSpPr>
            <a:spLocks noGrp="1"/>
          </p:cNvSpPr>
          <p:nvPr/>
        </p:nvSpPr>
        <p:spPr>
          <a:xfrm>
            <a:off x="3114675" y="2714625"/>
            <a:ext cx="4000500" cy="342900"/>
          </a:xfrm>
          <a:prstGeom prst="roundRect">
            <a:avLst>
              <a:gd name="adj" fmla="val 22222"/>
            </a:avLst>
          </a:prstGeom>
          <a:solidFill>
            <a:srgbClr val="2F6B5B"/>
          </a:solidFill>
          <a:ln w="0">
            <a:noFill/>
            <a:prstDash val="solid"/>
          </a:ln>
        </p:spPr>
      </p:sp>
      <p:sp>
        <p:nvSpPr>
          <p:cNvPr id="20" name="panel"/>
          <p:cNvSpPr>
            <a:spLocks noGrp="1"/>
          </p:cNvSpPr>
          <p:nvPr/>
        </p:nvSpPr>
        <p:spPr>
          <a:xfrm>
            <a:off x="400050" y="3200400"/>
            <a:ext cx="11144250" cy="628650"/>
          </a:xfrm>
          <a:prstGeom prst="rect">
            <a:avLst/>
          </a:prstGeom>
          <a:solidFill>
            <a:srgbClr val="FAFAFA"/>
          </a:solidFill>
          <a:ln w="4763">
            <a:solidFill>
              <a:srgbClr val="B9BFC3"/>
            </a:solidFill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533400" y="3362325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PC端与小程序联调</a:t>
            </a:r>
            <a:endParaRPr sz="15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panel"/>
          <p:cNvSpPr>
            <a:spLocks noGrp="1"/>
          </p:cNvSpPr>
          <p:nvPr/>
        </p:nvSpPr>
        <p:spPr>
          <a:xfrm>
            <a:off x="3114675" y="3343275"/>
            <a:ext cx="4000500" cy="342900"/>
          </a:xfrm>
          <a:prstGeom prst="roundRect">
            <a:avLst>
              <a:gd name="adj" fmla="val 22222"/>
            </a:avLst>
          </a:prstGeom>
          <a:solidFill>
            <a:srgbClr val="2F6B5B"/>
          </a:solidFill>
          <a:ln w="0">
            <a:noFill/>
            <a:prstDash val="solid"/>
          </a:ln>
        </p:spPr>
      </p:sp>
      <p:sp>
        <p:nvSpPr>
          <p:cNvPr id="23" name="panel"/>
          <p:cNvSpPr>
            <a:spLocks noGrp="1"/>
          </p:cNvSpPr>
          <p:nvPr/>
        </p:nvSpPr>
        <p:spPr>
          <a:xfrm>
            <a:off x="400050" y="3829050"/>
            <a:ext cx="11144250" cy="628650"/>
          </a:xfrm>
          <a:prstGeom prst="rect">
            <a:avLst/>
          </a:prstGeom>
          <a:solidFill>
            <a:srgbClr val="FFFFFF"/>
          </a:solidFill>
          <a:ln w="4763">
            <a:solidFill>
              <a:srgbClr val="B9BFC3"/>
            </a:solidFill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533400" y="3990975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安全、性能与全量回归</a:t>
            </a:r>
            <a:endParaRPr sz="15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panel"/>
          <p:cNvSpPr>
            <a:spLocks noGrp="1"/>
          </p:cNvSpPr>
          <p:nvPr/>
        </p:nvSpPr>
        <p:spPr>
          <a:xfrm>
            <a:off x="5257800" y="3971925"/>
            <a:ext cx="4000500" cy="342900"/>
          </a:xfrm>
          <a:prstGeom prst="roundRect">
            <a:avLst>
              <a:gd name="adj" fmla="val 22222"/>
            </a:avLst>
          </a:prstGeom>
          <a:solidFill>
            <a:srgbClr val="2F6B5B"/>
          </a:solidFill>
          <a:ln w="0">
            <a:noFill/>
            <a:prstDash val="solid"/>
          </a:ln>
        </p:spPr>
      </p:sp>
      <p:sp>
        <p:nvSpPr>
          <p:cNvPr id="26" name="panel"/>
          <p:cNvSpPr>
            <a:spLocks noGrp="1"/>
          </p:cNvSpPr>
          <p:nvPr/>
        </p:nvSpPr>
        <p:spPr>
          <a:xfrm>
            <a:off x="400050" y="4457700"/>
            <a:ext cx="11144250" cy="628650"/>
          </a:xfrm>
          <a:prstGeom prst="rect">
            <a:avLst/>
          </a:prstGeom>
          <a:solidFill>
            <a:srgbClr val="FAFAFA"/>
          </a:solidFill>
          <a:ln w="4763">
            <a:solidFill>
              <a:srgbClr val="B9BFC3"/>
            </a:solidFill>
            <a:prstDash val="solid"/>
          </a:ln>
        </p:spPr>
      </p:sp>
      <p:sp>
        <p:nvSpPr>
          <p:cNvPr id="27" name="text"/>
          <p:cNvSpPr>
            <a:spLocks noGrp="1"/>
          </p:cNvSpPr>
          <p:nvPr/>
        </p:nvSpPr>
        <p:spPr>
          <a:xfrm>
            <a:off x="533400" y="4619625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部署、培训与上线</a:t>
            </a:r>
            <a:endParaRPr sz="15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panel"/>
          <p:cNvSpPr>
            <a:spLocks noGrp="1"/>
          </p:cNvSpPr>
          <p:nvPr/>
        </p:nvSpPr>
        <p:spPr>
          <a:xfrm>
            <a:off x="7400925" y="4600575"/>
            <a:ext cx="1857375" cy="342900"/>
          </a:xfrm>
          <a:prstGeom prst="roundRect">
            <a:avLst>
              <a:gd name="adj" fmla="val 22222"/>
            </a:avLst>
          </a:prstGeom>
          <a:solidFill>
            <a:srgbClr val="2F6B5B"/>
          </a:solidFill>
          <a:ln w="0">
            <a:noFill/>
            <a:prstDash val="solid"/>
          </a:ln>
        </p:spPr>
      </p:sp>
      <p:sp>
        <p:nvSpPr>
          <p:cNvPr id="29" name="panel"/>
          <p:cNvSpPr>
            <a:spLocks noGrp="1"/>
          </p:cNvSpPr>
          <p:nvPr/>
        </p:nvSpPr>
        <p:spPr>
          <a:xfrm>
            <a:off x="400050" y="5086350"/>
            <a:ext cx="11144250" cy="628650"/>
          </a:xfrm>
          <a:prstGeom prst="rect">
            <a:avLst/>
          </a:prstGeom>
          <a:solidFill>
            <a:srgbClr val="FFFFFF"/>
          </a:solidFill>
          <a:ln w="4763">
            <a:solidFill>
              <a:srgbClr val="B9BFC3"/>
            </a:solidFill>
            <a:prstDash val="solid"/>
          </a:ln>
        </p:spPr>
      </p:sp>
      <p:sp>
        <p:nvSpPr>
          <p:cNvPr id="30" name="text"/>
          <p:cNvSpPr>
            <a:spLocks noGrp="1"/>
          </p:cNvSpPr>
          <p:nvPr/>
        </p:nvSpPr>
        <p:spPr>
          <a:xfrm>
            <a:off x="533400" y="5248275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试运行、问题闭环与终验</a:t>
            </a:r>
            <a:endParaRPr sz="15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panel"/>
          <p:cNvSpPr>
            <a:spLocks noGrp="1"/>
          </p:cNvSpPr>
          <p:nvPr/>
        </p:nvSpPr>
        <p:spPr>
          <a:xfrm>
            <a:off x="9544050" y="5229225"/>
            <a:ext cx="1857375" cy="342900"/>
          </a:xfrm>
          <a:prstGeom prst="roundRect">
            <a:avLst>
              <a:gd name="adj" fmla="val 22222"/>
            </a:avLst>
          </a:prstGeom>
          <a:solidFill>
            <a:srgbClr val="A56B17"/>
          </a:solidFill>
          <a:ln w="0">
            <a:noFill/>
            <a:prstDash val="solid"/>
          </a:ln>
        </p:spPr>
      </p:sp>
      <p:sp>
        <p:nvSpPr>
          <p:cNvPr id="32" name="text"/>
          <p:cNvSpPr>
            <a:spLocks noGrp="1"/>
          </p:cNvSpPr>
          <p:nvPr/>
        </p:nvSpPr>
        <p:spPr>
          <a:xfrm>
            <a:off x="3143250" y="59531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926"/>
          </a:bodyPr>
          <a:lstStyle/>
          <a:p>
            <a:pPr algn="l">
              <a:defRPr sz="135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M1 范围确认</a:t>
            </a:r>
            <a:endParaRPr sz="1350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text"/>
          <p:cNvSpPr>
            <a:spLocks noGrp="1"/>
          </p:cNvSpPr>
          <p:nvPr/>
        </p:nvSpPr>
        <p:spPr>
          <a:xfrm>
            <a:off x="5286375" y="59531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926"/>
          </a:bodyPr>
          <a:lstStyle/>
          <a:p>
            <a:pPr algn="l">
              <a:defRPr sz="135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M2 核心UAT</a:t>
            </a:r>
            <a:endParaRPr sz="1350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7429500" y="59531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926"/>
          </a:bodyPr>
          <a:lstStyle/>
          <a:p>
            <a:pPr algn="l">
              <a:defRPr sz="135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M3 正式上线</a:t>
            </a:r>
            <a:endParaRPr sz="1350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text"/>
          <p:cNvSpPr>
            <a:spLocks noGrp="1"/>
          </p:cNvSpPr>
          <p:nvPr/>
        </p:nvSpPr>
        <p:spPr>
          <a:xfrm>
            <a:off x="9572625" y="59531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926"/>
          </a:bodyPr>
          <a:lstStyle/>
          <a:p>
            <a:pPr algn="l">
              <a:defRPr sz="13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M4 正式验收</a:t>
            </a:r>
            <a:endParaRPr sz="1350" b="1">
              <a:solidFill>
                <a:srgbClr val="A56B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slide-title"/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已有成果可复用，后续重点转向联调与上线</a:t>
            </a:r>
            <a:endParaRPr sz="36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ection-label"/>
          <p:cNvSpPr>
            <a:spLocks noGrp="1"/>
          </p:cNvSpPr>
          <p:nvPr/>
        </p:nvSpPr>
        <p:spPr>
          <a:xfrm>
            <a:off x="9620250" y="409575"/>
            <a:ext cx="217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r">
              <a:def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项目开工会</a:t>
            </a:r>
            <a:endParaRPr sz="12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age-number"/>
          <p:cNvSpPr>
            <a:spLocks noGrp="1"/>
          </p:cNvSpPr>
          <p:nvPr/>
        </p:nvSpPr>
        <p:spPr>
          <a:xfrm>
            <a:off x="11277600" y="63436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/>
          </a:bodyPr>
          <a:lstStyle/>
          <a:p>
            <a:pPr algn="r">
              <a:def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105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400050" y="14668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defRPr sz="225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已完成基础</a:t>
            </a:r>
            <a:endParaRPr sz="2250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6286500" y="14668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defRPr sz="22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开工后必须完成</a:t>
            </a:r>
            <a:endParaRPr sz="2250" b="1">
              <a:solidFill>
                <a:srgbClr val="A56B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panel"/>
          <p:cNvSpPr>
            <a:spLocks noGrp="1"/>
          </p:cNvSpPr>
          <p:nvPr/>
        </p:nvSpPr>
        <p:spPr>
          <a:xfrm>
            <a:off x="400050" y="2057400"/>
            <a:ext cx="5143500" cy="3333750"/>
          </a:xfrm>
          <a:prstGeom prst="rect">
            <a:avLst/>
          </a:prstGeom>
          <a:solidFill>
            <a:srgbClr val="EAF2EE"/>
          </a:solidFill>
          <a:ln w="0">
            <a:noFill/>
            <a:prstDash val="solid"/>
          </a:ln>
        </p:spPr>
      </p:sp>
      <p:sp>
        <p:nvSpPr>
          <p:cNvPr id="7" name="panel"/>
          <p:cNvSpPr>
            <a:spLocks noGrp="1"/>
          </p:cNvSpPr>
          <p:nvPr/>
        </p:nvSpPr>
        <p:spPr>
          <a:xfrm>
            <a:off x="6286500" y="2057400"/>
            <a:ext cx="5143500" cy="3333750"/>
          </a:xfrm>
          <a:prstGeom prst="rect">
            <a:avLst/>
          </a:prstGeom>
          <a:solidFill>
            <a:srgbClr val="F2F3F3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85800" y="2362200"/>
            <a:ext cx="457200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 核心业务模块完成代码整改</a:t>
            </a:r>
            <a:endParaRPr sz="165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 首页、菜单及表格视觉统一</a:t>
            </a:r>
            <a:endParaRPr sz="165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 审批、模板、通知链路完成整改</a:t>
            </a:r>
            <a:endParaRPr sz="165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 编译与规范检查通过</a:t>
            </a:r>
            <a:endParaRPr sz="165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  权限、状态及数据隔离规则已加固</a:t>
            </a:r>
            <a:endParaRPr sz="165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572250" y="2362200"/>
            <a:ext cx="457200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 多角色真实业务UAT</a:t>
            </a:r>
            <a:endParaRPr sz="165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 PC端与微信小程序真实联调</a:t>
            </a:r>
            <a:endParaRPr sz="165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 历史数据、流程与文档复验</a:t>
            </a:r>
            <a:endParaRPr sz="165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 生产安全、性能与稳定性验证</a:t>
            </a:r>
            <a:endParaRPr sz="165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  回滚、培训、试运行与正式验收</a:t>
            </a:r>
            <a:endParaRPr sz="1650" b="0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panel"/>
          <p:cNvSpPr>
            <a:spLocks noGrp="1"/>
          </p:cNvSpPr>
          <p:nvPr/>
        </p:nvSpPr>
        <p:spPr>
          <a:xfrm>
            <a:off x="400050" y="5695950"/>
            <a:ext cx="11029950" cy="400050"/>
          </a:xfrm>
          <a:prstGeom prst="rect">
            <a:avLst/>
          </a:prstGeom>
          <a:solidFill>
            <a:srgbClr val="264A40"/>
          </a:solidFill>
          <a:ln w="0">
            <a:noFill/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590550" y="57626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97"/>
          </a:bodyPr>
          <a:lstStyle/>
          <a:p>
            <a:pPr algn="l"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实施策略：保留现有成果，按需求基线复验，不重复建设已验证的基础能力。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项目目前进展：管理</a:t>
            </a:r>
            <a:r>
              <a:rPr lang="zh-CN"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</a:t>
            </a:r>
            <a:endParaRPr lang="zh-CN" sz="36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ection-label"/>
          <p:cNvSpPr>
            <a:spLocks noGrp="1"/>
          </p:cNvSpPr>
          <p:nvPr/>
        </p:nvSpPr>
        <p:spPr>
          <a:xfrm>
            <a:off x="9620250" y="409575"/>
            <a:ext cx="217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r">
              <a:def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项目开工会</a:t>
            </a:r>
            <a:endParaRPr sz="12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age-number"/>
          <p:cNvSpPr>
            <a:spLocks noGrp="1"/>
          </p:cNvSpPr>
          <p:nvPr/>
        </p:nvSpPr>
        <p:spPr>
          <a:xfrm>
            <a:off x="11277600" y="63436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/>
          </a:bodyPr>
          <a:lstStyle/>
          <a:p>
            <a:pPr algn="r">
              <a:def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105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9425" y="981075"/>
            <a:ext cx="1099947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项目目前进展：</a:t>
            </a:r>
            <a:r>
              <a:rPr lang="zh-CN"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小程序端</a:t>
            </a:r>
            <a:endParaRPr lang="zh-CN" sz="36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ection-label"/>
          <p:cNvSpPr>
            <a:spLocks noGrp="1"/>
          </p:cNvSpPr>
          <p:nvPr/>
        </p:nvSpPr>
        <p:spPr>
          <a:xfrm>
            <a:off x="9620250" y="409575"/>
            <a:ext cx="217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r">
              <a:def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项目开工会</a:t>
            </a:r>
            <a:endParaRPr sz="12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age-number"/>
          <p:cNvSpPr>
            <a:spLocks noGrp="1"/>
          </p:cNvSpPr>
          <p:nvPr/>
        </p:nvSpPr>
        <p:spPr>
          <a:xfrm>
            <a:off x="11277600" y="63436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/>
          </a:bodyPr>
          <a:lstStyle/>
          <a:p>
            <a:pPr algn="r">
              <a:def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105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3570" y="1101725"/>
            <a:ext cx="2633345" cy="53333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71900" y="1066800"/>
            <a:ext cx="2874010" cy="53327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160895" y="1066800"/>
            <a:ext cx="2593975" cy="5480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title"/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双</a:t>
            </a:r>
            <a:r>
              <a: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方协同，确保需求、进度与上线责任清晰</a:t>
            </a:r>
            <a:endParaRPr sz="36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ection-label"/>
          <p:cNvSpPr>
            <a:spLocks noGrp="1"/>
          </p:cNvSpPr>
          <p:nvPr/>
        </p:nvSpPr>
        <p:spPr>
          <a:xfrm>
            <a:off x="9620250" y="409575"/>
            <a:ext cx="217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r">
              <a:def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项目开工会</a:t>
            </a:r>
            <a:endParaRPr sz="12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age-number"/>
          <p:cNvSpPr>
            <a:spLocks noGrp="1"/>
          </p:cNvSpPr>
          <p:nvPr/>
        </p:nvSpPr>
        <p:spPr>
          <a:xfrm>
            <a:off x="11277600" y="63436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/>
          </a:bodyPr>
          <a:lstStyle/>
          <a:p>
            <a:pPr algn="r">
              <a:def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105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35280" y="1743075"/>
            <a:ext cx="11182350" cy="2800350"/>
            <a:chOff x="630" y="3090"/>
            <a:chExt cx="17610" cy="4410"/>
          </a:xfrm>
        </p:grpSpPr>
        <p:sp>
          <p:nvSpPr>
            <p:cNvPr id="4" name="text"/>
            <p:cNvSpPr>
              <a:spLocks noGrp="1"/>
            </p:cNvSpPr>
            <p:nvPr/>
          </p:nvSpPr>
          <p:spPr>
            <a:xfrm>
              <a:off x="630" y="3090"/>
              <a:ext cx="780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 fontScale="94444"/>
            </a:bodyPr>
            <a:lstStyle/>
            <a:p>
              <a:pPr algn="l">
                <a:defRPr sz="1350" b="1">
                  <a:solidFill>
                    <a:srgbClr val="2F6B5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350" b="1">
                  <a:solidFill>
                    <a:srgbClr val="2F6B5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01</a:t>
              </a:r>
              <a:endPara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5" name="text"/>
            <p:cNvSpPr>
              <a:spLocks noGrp="1"/>
            </p:cNvSpPr>
            <p:nvPr/>
          </p:nvSpPr>
          <p:spPr>
            <a:xfrm>
              <a:off x="630" y="3840"/>
              <a:ext cx="4032" cy="11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 lnSpcReduction="20000"/>
            </a:bodyPr>
            <a:lstStyle/>
            <a:p>
              <a:pPr algn="l">
                <a:defRPr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lang="zh-CN"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吴中金控</a:t>
              </a:r>
              <a:r>
                <a:rPr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项目负责人</a:t>
              </a:r>
              <a:endPara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" name="text"/>
            <p:cNvSpPr>
              <a:spLocks noGrp="1"/>
            </p:cNvSpPr>
            <p:nvPr/>
          </p:nvSpPr>
          <p:spPr>
            <a:xfrm>
              <a:off x="630" y="5250"/>
              <a:ext cx="3750" cy="2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/>
            </a:bodyPr>
            <a:lstStyle/>
            <a:p>
              <a:pPr algn="l">
                <a:defRPr sz="1650" b="0">
                  <a:solidFill>
                    <a:srgbClr val="5D667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650" b="0">
                  <a:solidFill>
                    <a:srgbClr val="5D667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统筹决策、资源协调、重大事项确认与里程碑审批</a:t>
              </a:r>
              <a:endPara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8" name="text"/>
            <p:cNvSpPr>
              <a:spLocks noGrp="1"/>
            </p:cNvSpPr>
            <p:nvPr/>
          </p:nvSpPr>
          <p:spPr>
            <a:xfrm>
              <a:off x="5250" y="3090"/>
              <a:ext cx="780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 fontScale="94444"/>
            </a:bodyPr>
            <a:lstStyle/>
            <a:p>
              <a:pPr algn="l">
                <a:defRPr sz="1350" b="1">
                  <a:solidFill>
                    <a:srgbClr val="2F6B5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350" b="1">
                  <a:solidFill>
                    <a:srgbClr val="2F6B5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02</a:t>
              </a:r>
              <a:endPara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9" name="text"/>
            <p:cNvSpPr>
              <a:spLocks noGrp="1"/>
            </p:cNvSpPr>
            <p:nvPr/>
          </p:nvSpPr>
          <p:spPr>
            <a:xfrm>
              <a:off x="5250" y="3699"/>
              <a:ext cx="3750" cy="11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 fontScale="99383" lnSpcReduction="10000"/>
            </a:bodyPr>
            <a:lstStyle/>
            <a:p>
              <a:pPr algn="l">
                <a:defRPr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lang="zh-CN"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吴中金控</a:t>
              </a:r>
              <a:r>
                <a:rPr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业务部门与关键用户</a:t>
              </a:r>
              <a:endPara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0" name="text"/>
            <p:cNvSpPr>
              <a:spLocks noGrp="1"/>
            </p:cNvSpPr>
            <p:nvPr/>
          </p:nvSpPr>
          <p:spPr>
            <a:xfrm>
              <a:off x="5250" y="5250"/>
              <a:ext cx="3750" cy="2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/>
            </a:bodyPr>
            <a:lstStyle/>
            <a:p>
              <a:pPr algn="l">
                <a:defRPr sz="1650" b="0">
                  <a:solidFill>
                    <a:srgbClr val="5D667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650" b="0">
                  <a:solidFill>
                    <a:srgbClr val="5D667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确认业务口径、准备测试数据、参与UAT和培训验收</a:t>
              </a:r>
              <a:endPara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2" name="text"/>
            <p:cNvSpPr>
              <a:spLocks noGrp="1"/>
            </p:cNvSpPr>
            <p:nvPr/>
          </p:nvSpPr>
          <p:spPr>
            <a:xfrm>
              <a:off x="9870" y="3090"/>
              <a:ext cx="780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 fontScale="94444"/>
            </a:bodyPr>
            <a:lstStyle/>
            <a:p>
              <a:pPr algn="l">
                <a:defRPr sz="1350" b="1">
                  <a:solidFill>
                    <a:srgbClr val="2F6B5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350" b="1">
                  <a:solidFill>
                    <a:srgbClr val="2F6B5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03</a:t>
              </a:r>
              <a:endPara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3" name="text"/>
            <p:cNvSpPr>
              <a:spLocks noGrp="1"/>
            </p:cNvSpPr>
            <p:nvPr/>
          </p:nvSpPr>
          <p:spPr>
            <a:xfrm>
              <a:off x="9870" y="3690"/>
              <a:ext cx="3750" cy="11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 lnSpcReduction="20000"/>
            </a:bodyPr>
            <a:lstStyle/>
            <a:p>
              <a:pPr algn="l">
                <a:defRPr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lang="zh-CN"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企业征信</a:t>
              </a:r>
              <a:r>
                <a:rPr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项目实施团队</a:t>
              </a:r>
              <a:endPara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4" name="text"/>
            <p:cNvSpPr>
              <a:spLocks noGrp="1"/>
            </p:cNvSpPr>
            <p:nvPr/>
          </p:nvSpPr>
          <p:spPr>
            <a:xfrm>
              <a:off x="9870" y="5250"/>
              <a:ext cx="3750" cy="2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/>
            </a:bodyPr>
            <a:lstStyle/>
            <a:p>
              <a:pPr algn="l">
                <a:defRPr sz="1650" b="0">
                  <a:solidFill>
                    <a:srgbClr val="5D667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650" b="0">
                  <a:solidFill>
                    <a:srgbClr val="5D667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负责设计开发、联调测试、部署培训和问题闭环</a:t>
              </a:r>
              <a:endPara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6" name="text"/>
            <p:cNvSpPr>
              <a:spLocks noGrp="1"/>
            </p:cNvSpPr>
            <p:nvPr/>
          </p:nvSpPr>
          <p:spPr>
            <a:xfrm>
              <a:off x="14490" y="3090"/>
              <a:ext cx="780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 fontScale="94444"/>
            </a:bodyPr>
            <a:lstStyle/>
            <a:p>
              <a:pPr algn="l">
                <a:defRPr sz="1350" b="1">
                  <a:solidFill>
                    <a:srgbClr val="2F6B5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350" b="1">
                  <a:solidFill>
                    <a:srgbClr val="2F6B5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04</a:t>
              </a:r>
              <a:endPara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7" name="text"/>
            <p:cNvSpPr>
              <a:spLocks noGrp="1"/>
            </p:cNvSpPr>
            <p:nvPr/>
          </p:nvSpPr>
          <p:spPr>
            <a:xfrm>
              <a:off x="14490" y="3690"/>
              <a:ext cx="3750" cy="11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 lnSpcReduction="20000"/>
            </a:bodyPr>
            <a:lstStyle/>
            <a:p>
              <a:pPr algn="l">
                <a:defRPr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lang="zh-CN"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企业征信</a:t>
              </a:r>
              <a:r>
                <a:rPr sz="2025" b="1">
                  <a:solidFill>
                    <a:srgbClr val="11141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运维与安全团队</a:t>
              </a:r>
              <a:endPara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8" name="text"/>
            <p:cNvSpPr>
              <a:spLocks noGrp="1"/>
            </p:cNvSpPr>
            <p:nvPr/>
          </p:nvSpPr>
          <p:spPr>
            <a:xfrm>
              <a:off x="14490" y="5250"/>
              <a:ext cx="3750" cy="2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>
              <a:normAutofit/>
            </a:bodyPr>
            <a:lstStyle/>
            <a:p>
              <a:pPr algn="l">
                <a:defRPr sz="1650" b="0">
                  <a:solidFill>
                    <a:srgbClr val="5D667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650" b="0">
                  <a:solidFill>
                    <a:srgbClr val="5D667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准备环境、域名证书、安全评测、备份和上线保障</a:t>
              </a:r>
              <a:endPara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35280" y="4629150"/>
            <a:ext cx="11182350" cy="0"/>
            <a:chOff x="630" y="7950"/>
            <a:chExt cx="17610" cy="0"/>
          </a:xfrm>
        </p:grpSpPr>
        <p:cxnSp>
          <p:nvCxnSpPr>
            <p:cNvPr id="28" name="rule"/>
            <p:cNvCxnSpPr/>
            <p:nvPr/>
          </p:nvCxnSpPr>
          <p:spPr>
            <a:xfrm>
              <a:off x="630" y="7950"/>
              <a:ext cx="3750" cy="0"/>
            </a:xfrm>
            <a:prstGeom prst="straightConnector1">
              <a:avLst/>
            </a:prstGeom>
            <a:ln w="9525">
              <a:solidFill>
                <a:srgbClr val="B9BFC3"/>
              </a:solidFill>
              <a:prstDash val="solid"/>
            </a:ln>
          </p:spPr>
        </p:cxnSp>
        <p:cxnSp>
          <p:nvCxnSpPr>
            <p:cNvPr id="32" name="rule"/>
            <p:cNvCxnSpPr/>
            <p:nvPr/>
          </p:nvCxnSpPr>
          <p:spPr>
            <a:xfrm>
              <a:off x="5250" y="7950"/>
              <a:ext cx="3750" cy="0"/>
            </a:xfrm>
            <a:prstGeom prst="straightConnector1">
              <a:avLst/>
            </a:prstGeom>
            <a:ln w="9525">
              <a:solidFill>
                <a:srgbClr val="B9BFC3"/>
              </a:solidFill>
              <a:prstDash val="solid"/>
            </a:ln>
          </p:spPr>
        </p:cxnSp>
        <p:cxnSp>
          <p:nvCxnSpPr>
            <p:cNvPr id="36" name="rule"/>
            <p:cNvCxnSpPr/>
            <p:nvPr/>
          </p:nvCxnSpPr>
          <p:spPr>
            <a:xfrm>
              <a:off x="9870" y="7950"/>
              <a:ext cx="3750" cy="0"/>
            </a:xfrm>
            <a:prstGeom prst="straightConnector1">
              <a:avLst/>
            </a:prstGeom>
            <a:ln w="9525">
              <a:solidFill>
                <a:srgbClr val="B9BFC3"/>
              </a:solidFill>
              <a:prstDash val="solid"/>
            </a:ln>
          </p:spPr>
        </p:cxnSp>
        <p:cxnSp>
          <p:nvCxnSpPr>
            <p:cNvPr id="40" name="rule"/>
            <p:cNvCxnSpPr/>
            <p:nvPr/>
          </p:nvCxnSpPr>
          <p:spPr>
            <a:xfrm>
              <a:off x="14490" y="7950"/>
              <a:ext cx="3750" cy="0"/>
            </a:xfrm>
            <a:prstGeom prst="straightConnector1">
              <a:avLst/>
            </a:prstGeom>
            <a:ln w="9525">
              <a:solidFill>
                <a:srgbClr val="B9BFC3"/>
              </a:solidFill>
              <a:prstDash val="solid"/>
            </a:ln>
          </p:spPr>
        </p:cxnSp>
      </p:grpSp>
      <p:sp>
        <p:nvSpPr>
          <p:cNvPr id="20" name="panel"/>
          <p:cNvSpPr>
            <a:spLocks noGrp="1"/>
          </p:cNvSpPr>
          <p:nvPr/>
        </p:nvSpPr>
        <p:spPr>
          <a:xfrm>
            <a:off x="400050" y="5467350"/>
            <a:ext cx="11182350" cy="609600"/>
          </a:xfrm>
          <a:prstGeom prst="rect">
            <a:avLst/>
          </a:prstGeom>
          <a:solidFill>
            <a:srgbClr val="EAF2EE"/>
          </a:solidFill>
          <a:ln w="0">
            <a:noFill/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590550" y="5629275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ctr">
              <a:defRPr sz="18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64A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协同节奏：固定周例会｜里程碑联合评审｜问题清单闭环｜重大事项即时升级</a:t>
            </a:r>
            <a:endParaRPr sz="1800" b="1">
              <a:solidFill>
                <a:srgbClr val="264A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title"/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关键风险需在项目初期同步化解</a:t>
            </a:r>
            <a:endParaRPr sz="36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ection-label"/>
          <p:cNvSpPr>
            <a:spLocks noGrp="1"/>
          </p:cNvSpPr>
          <p:nvPr/>
        </p:nvSpPr>
        <p:spPr>
          <a:xfrm>
            <a:off x="9620250" y="409575"/>
            <a:ext cx="217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r">
              <a:def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项目开工会</a:t>
            </a:r>
            <a:endParaRPr sz="12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age-number"/>
          <p:cNvSpPr>
            <a:spLocks noGrp="1"/>
          </p:cNvSpPr>
          <p:nvPr/>
        </p:nvSpPr>
        <p:spPr>
          <a:xfrm>
            <a:off x="11277600" y="63436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/>
          </a:bodyPr>
          <a:lstStyle/>
          <a:p>
            <a:pPr algn="r">
              <a:def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105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476250" y="16573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350" b="1">
              <a:solidFill>
                <a:srgbClr val="A56B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238250" y="16002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建设范围持续扩张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4762500" y="16002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开工会确认需求基线，新增需求履行评估与变更确认。</a:t>
            </a:r>
            <a:endParaRPr sz="1650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28" name="rule"/>
          <p:cNvCxnSpPr/>
          <p:nvPr/>
        </p:nvCxnSpPr>
        <p:spPr>
          <a:xfrm>
            <a:off x="400050" y="2305050"/>
            <a:ext cx="113919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8" name="text"/>
          <p:cNvSpPr>
            <a:spLocks noGrp="1"/>
          </p:cNvSpPr>
          <p:nvPr/>
        </p:nvSpPr>
        <p:spPr>
          <a:xfrm>
            <a:off x="476250" y="27241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350" b="1">
              <a:solidFill>
                <a:srgbClr val="A56B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1238250" y="26670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测试账号和业务数据不足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4762500" y="26670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提前准备多角色账号及新旧业务样本，按模块安排UAT。</a:t>
            </a:r>
            <a:endParaRPr sz="1650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2" name="rule"/>
          <p:cNvCxnSpPr/>
          <p:nvPr/>
        </p:nvCxnSpPr>
        <p:spPr>
          <a:xfrm>
            <a:off x="400050" y="3371850"/>
            <a:ext cx="113919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12" name="text"/>
          <p:cNvSpPr>
            <a:spLocks noGrp="1"/>
          </p:cNvSpPr>
          <p:nvPr/>
        </p:nvSpPr>
        <p:spPr>
          <a:xfrm>
            <a:off x="476250" y="37909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350" b="1">
              <a:solidFill>
                <a:srgbClr val="A56B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1238250" y="37338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生产环境与外部渠道延迟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762500" y="37338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首月确认服务器、域名、证书、存储及小程序和通知条件。</a:t>
            </a:r>
            <a:endParaRPr sz="1650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6" name="rule"/>
          <p:cNvCxnSpPr/>
          <p:nvPr/>
        </p:nvCxnSpPr>
        <p:spPr>
          <a:xfrm>
            <a:off x="400050" y="4438650"/>
            <a:ext cx="113919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16" name="text"/>
          <p:cNvSpPr>
            <a:spLocks noGrp="1"/>
          </p:cNvSpPr>
          <p:nvPr/>
        </p:nvSpPr>
        <p:spPr>
          <a:xfrm>
            <a:off x="476250" y="48577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350" b="1">
              <a:solidFill>
                <a:srgbClr val="A56B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1238250" y="48006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历史数据及流程配置差异</a:t>
            </a:r>
            <a:endParaRPr sz="2025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4762500" y="48006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先备份再清理，以真实流程节点和历史样本开展回归。</a:t>
            </a:r>
            <a:endParaRPr sz="1650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0" name="rule"/>
          <p:cNvCxnSpPr/>
          <p:nvPr/>
        </p:nvCxnSpPr>
        <p:spPr>
          <a:xfrm>
            <a:off x="400050" y="5505450"/>
            <a:ext cx="113919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20" name="panel"/>
          <p:cNvSpPr>
            <a:spLocks noGrp="1"/>
          </p:cNvSpPr>
          <p:nvPr/>
        </p:nvSpPr>
        <p:spPr>
          <a:xfrm>
            <a:off x="400050" y="5905500"/>
            <a:ext cx="11391900" cy="361950"/>
          </a:xfrm>
          <a:prstGeom prst="rect">
            <a:avLst/>
          </a:prstGeom>
          <a:solidFill>
            <a:srgbClr val="F5EAD8"/>
          </a:solidFill>
          <a:ln w="0">
            <a:noFill/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609600" y="5962650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5079"/>
          </a:bodyPr>
          <a:lstStyle/>
          <a:p>
            <a:pPr algn="ctr">
              <a:defRPr sz="1575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A56B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原则：风险提前暴露、责任落实到人、处理过程留痕、关闭结果可验证。</a:t>
            </a:r>
            <a:endParaRPr sz="1575" b="1">
              <a:solidFill>
                <a:srgbClr val="A56B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lide-title"/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需确认：业务边界与应用口径</a:t>
            </a:r>
            <a:endParaRPr sz="360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ection-label"/>
          <p:cNvSpPr>
            <a:spLocks noGrp="1"/>
          </p:cNvSpPr>
          <p:nvPr/>
        </p:nvSpPr>
        <p:spPr>
          <a:xfrm>
            <a:off x="9620250" y="409575"/>
            <a:ext cx="217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r">
              <a:def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会议确认事项</a:t>
            </a:r>
            <a:endParaRPr sz="120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age-number"/>
          <p:cNvSpPr>
            <a:spLocks noGrp="1"/>
          </p:cNvSpPr>
          <p:nvPr/>
        </p:nvSpPr>
        <p:spPr>
          <a:xfrm>
            <a:off x="11277600" y="63436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/>
          </a:bodyPr>
          <a:lstStyle/>
          <a:p>
            <a:pPr algn="r">
              <a:def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8A92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1050" b="0">
              <a:solidFill>
                <a:srgbClr val="8A929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400050" y="15240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028700" y="14954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615"/>
          </a:bodyPr>
          <a:lstStyle/>
          <a:p>
            <a:pPr algn="l">
              <a:def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本期建设边界</a:t>
            </a:r>
            <a:endParaRPr sz="195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028700" y="19812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确认必建模块及存量扩展功能是否纳入本期交付与验收。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4" name="rule"/>
          <p:cNvCxnSpPr/>
          <p:nvPr/>
        </p:nvCxnSpPr>
        <p:spPr>
          <a:xfrm>
            <a:off x="400050" y="2705100"/>
            <a:ext cx="51435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8" name="text"/>
          <p:cNvSpPr>
            <a:spLocks noGrp="1"/>
          </p:cNvSpPr>
          <p:nvPr/>
        </p:nvSpPr>
        <p:spPr>
          <a:xfrm>
            <a:off x="6286500" y="15240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915150" y="14954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615"/>
          </a:bodyPr>
          <a:lstStyle/>
          <a:p>
            <a:pPr algn="l">
              <a:def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背景调查来源</a:t>
            </a:r>
            <a:endParaRPr sz="195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6915150" y="19812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明确采用人工核验、及费用边界。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8" name="rule"/>
          <p:cNvCxnSpPr/>
          <p:nvPr/>
        </p:nvCxnSpPr>
        <p:spPr>
          <a:xfrm>
            <a:off x="6286500" y="2705100"/>
            <a:ext cx="51435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12" name="text"/>
          <p:cNvSpPr>
            <a:spLocks noGrp="1"/>
          </p:cNvSpPr>
          <p:nvPr/>
        </p:nvSpPr>
        <p:spPr>
          <a:xfrm>
            <a:off x="400050" y="30289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1028700" y="300037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615"/>
          </a:bodyPr>
          <a:lstStyle/>
          <a:p>
            <a:pPr algn="l">
              <a:def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微信小程序范围</a:t>
            </a:r>
            <a:endParaRPr sz="195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1028700" y="34861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确认使用主体、企业绑定方式、功能清单及上线发布条件。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2" name="rule"/>
          <p:cNvCxnSpPr/>
          <p:nvPr/>
        </p:nvCxnSpPr>
        <p:spPr>
          <a:xfrm>
            <a:off x="400050" y="4210050"/>
            <a:ext cx="51435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16" name="text"/>
          <p:cNvSpPr>
            <a:spLocks noGrp="1"/>
          </p:cNvSpPr>
          <p:nvPr/>
        </p:nvSpPr>
        <p:spPr>
          <a:xfrm>
            <a:off x="6286500" y="30289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6915150" y="300037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615"/>
          </a:bodyPr>
          <a:lstStyle/>
          <a:p>
            <a:pPr algn="l">
              <a:def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通知发送渠道</a:t>
            </a:r>
            <a:endParaRPr sz="195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6915150" y="34861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明确站内信、短信、邮件、小程序消息的正式接入范围。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6" name="rule"/>
          <p:cNvCxnSpPr/>
          <p:nvPr/>
        </p:nvCxnSpPr>
        <p:spPr>
          <a:xfrm>
            <a:off x="6286500" y="4210050"/>
            <a:ext cx="51435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20" name="text"/>
          <p:cNvSpPr>
            <a:spLocks noGrp="1"/>
          </p:cNvSpPr>
          <p:nvPr/>
        </p:nvSpPr>
        <p:spPr>
          <a:xfrm>
            <a:off x="400050" y="4533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1028700" y="45053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615"/>
          </a:bodyPr>
          <a:lstStyle/>
          <a:p>
            <a:pPr algn="l">
              <a:def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审批流程与角色</a:t>
            </a:r>
            <a:endParaRPr sz="195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1028700" y="49911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确认各业务流程节点、审批人、抄送人和异常处理规则。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0" name="rule"/>
          <p:cNvCxnSpPr/>
          <p:nvPr/>
        </p:nvCxnSpPr>
        <p:spPr>
          <a:xfrm>
            <a:off x="400050" y="5715000"/>
            <a:ext cx="51435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  <p:sp>
        <p:nvSpPr>
          <p:cNvPr id="24" name="text"/>
          <p:cNvSpPr>
            <a:spLocks noGrp="1"/>
          </p:cNvSpPr>
          <p:nvPr/>
        </p:nvSpPr>
        <p:spPr>
          <a:xfrm>
            <a:off x="6286500" y="4533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F6B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350" b="1">
              <a:solidFill>
                <a:srgbClr val="2F6B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6915150" y="45053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615"/>
          </a:bodyPr>
          <a:lstStyle/>
          <a:p>
            <a:pPr algn="l">
              <a:def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历史数据范围</a:t>
            </a:r>
            <a:endParaRPr sz="1950" b="1">
              <a:solidFill>
                <a:srgbClr val="1114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6915150" y="49911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5D66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明确需要迁移、清理、保留和归档的数据范围及责任分工。</a:t>
            </a:r>
            <a:endParaRPr sz="1575" b="0">
              <a:solidFill>
                <a:srgbClr val="5D66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4" name="rule"/>
          <p:cNvCxnSpPr/>
          <p:nvPr/>
        </p:nvCxnSpPr>
        <p:spPr>
          <a:xfrm>
            <a:off x="6286500" y="5715000"/>
            <a:ext cx="5143500" cy="95"/>
          </a:xfrm>
          <a:prstGeom prst="straightConnector1">
            <a:avLst/>
          </a:prstGeom>
          <a:ln w="9525">
            <a:solidFill>
              <a:srgbClr val="B9BFC3"/>
            </a:solidFill>
            <a:prstDash val="solid"/>
          </a:ln>
        </p:spPr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1552</Words>
  <Application>WPS 文字</Application>
  <PresentationFormat>Converted Presentation</PresentationFormat>
  <Paragraphs>308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PingFang SC Semibold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李嘉康</cp:lastModifiedBy>
  <cp:revision>6</cp:revision>
  <dcterms:created xsi:type="dcterms:W3CDTF">2026-08-06T05:51:05Z</dcterms:created>
  <dcterms:modified xsi:type="dcterms:W3CDTF">2026-08-06T05:51:05Z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EED01C42F1BBEAAB7BF5736A9C78F5D4_42</vt:lpwstr>
  </property>
  <property fmtid="{D5CDD505-2E9C-101B-9397-08002B2CF9AE}" pid="3" name="KSOProductBuildVer">
    <vt:lpwstr>2052-6.5.2.8766</vt:lpwstr>
  </property>
</Properties>
</file>